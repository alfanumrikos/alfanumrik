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F44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A1F44"/>
                </a:solidFill>
                <a:latin typeface="Georgia"/>
              </a:rPr>
              <a:t>Paid Students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students</c:v>
                </c:pt>
              </c:strCache>
            </c:strRef>
          </c:tx>
          <c:spPr>
            <a:solidFill>
              <a:srgbClr val="F4B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A1F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 (FY27)</c:v>
                  </c:pt>
                  <c:pt idx="1">
                    <c:v>Y2 (FY28)</c:v>
                  </c:pt>
                  <c:pt idx="2">
                    <c:v>Y3 (FY29)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45000</c:v>
                </c:pt>
                <c:pt idx="2">
                  <c:v>130000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A1F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E5DFD3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B400"/>
              </a:solidFill>
              <a:effectLst/>
            </c:spPr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</c:dPt>
          <c:dPt>
            <c:idx val="2"/>
            <c:bubble3D val="0"/>
            <c:spPr>
              <a:solidFill>
                <a:srgbClr val="1FB6A8"/>
              </a:solidFill>
              <a:effectLst/>
            </c:spPr>
          </c:dPt>
          <c:dPt>
            <c:idx val="3"/>
            <c:bubble3D val="0"/>
            <c:spPr>
              <a:solidFill>
                <a:srgbClr val="0A1F44"/>
              </a:solidFill>
              <a:effectLst/>
            </c:spPr>
          </c:dPt>
          <c:dPt>
            <c:idx val="4"/>
            <c:bubble3D val="0"/>
            <c:spPr>
              <a:solidFill>
                <a:srgbClr val="9AA3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Engineering &amp; Content</c:v>
                </c:pt>
                <c:pt idx="1">
                  <c:v>Growth &amp; GTM</c:v>
                </c:pt>
                <c:pt idx="2">
                  <c:v>Infrastructure &amp; AI</c:v>
                </c:pt>
                <c:pt idx="3">
                  <c:v>Founder + Hiring</c:v>
                </c:pt>
                <c:pt idx="4">
                  <c:v>Reserve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8388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9536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00684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00684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0684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00684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00684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41832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1832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41832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41832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41832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82980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82980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82980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82980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82980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82980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82980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4128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4128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24128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24128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24128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24128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24128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5276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5276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65276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5276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5276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65276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064240" y="10972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064240" y="15087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64240" y="192024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064240" y="233172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064240" y="274320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064240" y="315468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064240" y="3566160"/>
            <a:ext cx="73152" cy="73152"/>
          </a:xfrm>
          <a:prstGeom prst="ellipse">
            <a:avLst/>
          </a:prstGeom>
          <a:solidFill>
            <a:srgbClr val="F4B400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412480" y="2286000"/>
            <a:ext cx="2926080" cy="2926080"/>
          </a:xfrm>
          <a:prstGeom prst="ellipse">
            <a:avLst/>
          </a:prstGeom>
          <a:solidFill>
            <a:srgbClr val="0A1F44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78240" y="2651760"/>
            <a:ext cx="2194560" cy="2194560"/>
          </a:xfrm>
          <a:prstGeom prst="ellipse">
            <a:avLst/>
          </a:prstGeom>
          <a:solidFill>
            <a:srgbClr val="0A1F44"/>
          </a:solidFill>
          <a:ln w="9525">
            <a:solidFill>
              <a:srgbClr val="F4B4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44000" y="3017520"/>
            <a:ext cx="1463040" cy="146304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71" name="Text 69"/>
          <p:cNvSpPr/>
          <p:nvPr/>
        </p:nvSpPr>
        <p:spPr>
          <a:xfrm>
            <a:off x="9144000" y="3017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31520" y="16459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Adaptive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OS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CBSE.</a:t>
            </a:r>
            <a:endParaRPr lang="en-US" sz="6400" dirty="0"/>
          </a:p>
        </p:txBody>
      </p:sp>
      <p:sp>
        <p:nvSpPr>
          <p:cNvPr id="74" name="Text 72"/>
          <p:cNvSpPr/>
          <p:nvPr/>
        </p:nvSpPr>
        <p:spPr>
          <a:xfrm>
            <a:off x="73152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Mastery → Practice → Confidence → Results.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31520" y="5349240"/>
            <a:ext cx="3931920" cy="6400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76" name="Text 74"/>
          <p:cNvSpPr/>
          <p:nvPr/>
        </p:nvSpPr>
        <p:spPr>
          <a:xfrm>
            <a:off x="731520" y="5349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ASK  ·  ₹1.00 Cr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731520" y="608076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" y="6080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RECOGNISED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3152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Pradeep Sharma  ·  Founder &amp; CEO  ·  ceo@alfanumrik.com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31520" y="662940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Cusiosense Learning India Private Limited  ·  Confidential — For Investor Review Only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CBSE student deserves a personal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tutor that actually delivers results.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6583680" cy="3200400"/>
          </a:xfrm>
          <a:prstGeom prst="rect">
            <a:avLst/>
          </a:prstGeom>
          <a:solidFill>
            <a:srgbClr val="0A1F44"/>
          </a:solidFill>
          <a:ln/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109728" cy="32004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has 30M+ CBSE students. Most are stuck in rote-learning loops, fighting outdated content, generic apps, and a coaching-class economy that rewards anxiety over mastery.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Alfanumrik replaces that with a result-oriented, NCERT-aligned AI Operating System that learns each child — and makes them learn back.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2743200"/>
            <a:ext cx="4023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2743200"/>
            <a:ext cx="54864" cy="6858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2807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Result-Oriented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3090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tied to mastery, not minutes.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3520440"/>
            <a:ext cx="4023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3520440"/>
            <a:ext cx="54864" cy="6858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NCERT-True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RAG-grounded. Zero hallucination.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4297680"/>
            <a:ext cx="4023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4297680"/>
            <a:ext cx="54864" cy="6858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361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by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645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Foxy AI + CME engine adjusts in real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5074920"/>
            <a:ext cx="4023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5074920"/>
            <a:ext cx="54864" cy="6858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5422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for 100K+ concurrent students.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BROKEN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CBSE families are paying more,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stressing more, and learning less.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54864" cy="1463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students Grades 6–12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743200"/>
            <a:ext cx="54864" cy="14630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8803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₹58K Cr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611880" y="362102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K-12 supplemental market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743200"/>
            <a:ext cx="54864" cy="146304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8803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46520" y="362102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2+ apps; none retain them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7432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2743200"/>
            <a:ext cx="54864" cy="14630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8803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1:60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281160" y="362102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teacher-to-student ratio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3657600" cy="1691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26280"/>
            <a:ext cx="73152" cy="1691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90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AI ≠ Curriculum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5074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apps hallucinate, drift from NCERT, and break parent trust on Day 1.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52544" y="4526280"/>
            <a:ext cx="3657600" cy="1691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352544" y="4526280"/>
            <a:ext cx="73152" cy="1691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4690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content libraries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81144" y="5074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Static-PDF apps cannot adapt. Same set, same path — every kid, every time.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56448" y="4526280"/>
            <a:ext cx="3657600" cy="1691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34" name="Shape 32"/>
          <p:cNvSpPr/>
          <p:nvPr/>
        </p:nvSpPr>
        <p:spPr>
          <a:xfrm>
            <a:off x="8156448" y="4526280"/>
            <a:ext cx="73152" cy="1691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4690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Coaching-class anxiety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5048" y="5074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geographic, and one-size-fits-all. Burnout is the hidden product.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Adaptive Learning OS — not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another quiz app.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engines. One outcome: measurable mastery.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88920"/>
            <a:ext cx="3657600" cy="4114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520440"/>
            <a:ext cx="777240" cy="77724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38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Foxy AI Tutor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Concept-first AI tutor strictly grounded in NCERT via Voyage RAG. Step-by-step. Zero hallucination.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2544" y="278892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2544" y="2788920"/>
            <a:ext cx="365760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18304" y="352044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380" dirty="0"/>
          </a:p>
        </p:txBody>
      </p:sp>
      <p:sp>
        <p:nvSpPr>
          <p:cNvPr id="20" name="Text 18"/>
          <p:cNvSpPr/>
          <p:nvPr/>
        </p:nvSpPr>
        <p:spPr>
          <a:xfrm>
            <a:off x="4626864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Quiz Engine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26864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 / 15 / 20 question sets with deterministic grading, no repeats, mastery-aware difficulty.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6448" y="278892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6448" y="2788920"/>
            <a:ext cx="3657600" cy="41148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24" name="Shape 22"/>
          <p:cNvSpPr/>
          <p:nvPr/>
        </p:nvSpPr>
        <p:spPr>
          <a:xfrm>
            <a:off x="8522208" y="3520440"/>
            <a:ext cx="777240" cy="77724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5" name="Text 23"/>
          <p:cNvSpPr/>
          <p:nvPr/>
        </p:nvSpPr>
        <p:spPr>
          <a:xfrm>
            <a:off x="8522208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380" dirty="0"/>
          </a:p>
        </p:txBody>
      </p:sp>
      <p:sp>
        <p:nvSpPr>
          <p:cNvPr id="26" name="Text 24"/>
          <p:cNvSpPr/>
          <p:nvPr/>
        </p:nvSpPr>
        <p:spPr>
          <a:xfrm>
            <a:off x="8430768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CME Mastery Engine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30768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IRT-based theta tracking + affective state. Learns each child and rewards via XP, streaks, confidence.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 →  PRACTICE  →  CONFIDENCE  →  RESULTS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60-second tour of the student journey.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560320" y="3474720"/>
            <a:ext cx="228600" cy="3657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34640"/>
            <a:ext cx="1280160" cy="1280160"/>
          </a:xfrm>
          <a:prstGeom prst="ellipse">
            <a:avLst/>
          </a:prstGeom>
          <a:solidFill>
            <a:srgbClr val="F8F5F0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Onboarding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" y="4617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board, weak chapters. Goals locked in 90 seconds.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3474720"/>
            <a:ext cx="228600" cy="3657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2834640"/>
            <a:ext cx="1280160" cy="1280160"/>
          </a:xfrm>
          <a:prstGeom prst="ellipse">
            <a:avLst/>
          </a:prstGeom>
          <a:solidFill>
            <a:srgbClr val="F8F5F0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834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0604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CME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4617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IRT-driven baseline maps theta per concept.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3474720"/>
            <a:ext cx="228600" cy="3657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2834640"/>
            <a:ext cx="1280160" cy="1280160"/>
          </a:xfrm>
          <a:prstGeom prst="ellipse">
            <a:avLst/>
          </a:prstGeom>
          <a:solidFill>
            <a:srgbClr val="F8F5F0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834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Foxy Tutor Sessions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617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RAG-grounded, step-by-step, NCERT-true.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55480" y="3474720"/>
            <a:ext cx="228600" cy="3657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452360" y="2834640"/>
            <a:ext cx="1280160" cy="1280160"/>
          </a:xfrm>
          <a:prstGeom prst="ellipse">
            <a:avLst/>
          </a:prstGeom>
          <a:solidFill>
            <a:srgbClr val="F8F5F0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834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6948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Quizzes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4617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Mastery-tuned. No repeats. Real-time grading.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84080" y="2834640"/>
            <a:ext cx="1280160" cy="1280160"/>
          </a:xfrm>
          <a:prstGeom prst="ellipse">
            <a:avLst/>
          </a:prstGeom>
          <a:solidFill>
            <a:srgbClr val="F8F5F0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2834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60120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+ Teacher 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0" y="4617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Mastery, confidence, time-on-task. Weekly digest.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715000"/>
            <a:ext cx="11091672" cy="7772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715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REFUSE TO BE: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  ·  PDF library  ·  Coaching-class clone  ·  Hallucinated-content app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tailwinds converged in the last 18 months.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109728" cy="9601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tutoring is finally usable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GPT-class models + RAG eliminate hallucination at curriculum scale. The 2024 unlock makes Alfanumrik possible.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86200"/>
            <a:ext cx="109728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995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Post-Byju's trust vacuum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rejected video-library EdTech. They want outcomes, not sales calls.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29200"/>
            <a:ext cx="109728" cy="96012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54480" y="5138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NEP 2020 + new NCERT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5532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overhaul demands a new content layer. Legacy players are stuck on old syllabus PDFs.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18-month window to win Indian CBSE AI tutoring is open. We are 9 months in.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₹58,000 Cr market — and we only need 1%.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600200" y="2651760"/>
            <a:ext cx="3566160" cy="3566160"/>
          </a:xfrm>
          <a:prstGeom prst="ellipse">
            <a:avLst/>
          </a:prstGeom>
          <a:solidFill>
            <a:srgbClr val="F4B400">
              <a:alpha val="20000"/>
            </a:srgbClr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3200400"/>
            <a:ext cx="2468880" cy="246888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3749040"/>
            <a:ext cx="1371600" cy="137160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₹580 Cr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4636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0020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·  ₹58,000 Cr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6263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K-12 supplemental market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2743200"/>
            <a:ext cx="4690872" cy="96012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743200"/>
            <a:ext cx="109728" cy="9601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₹58,000 Cr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0976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Indian K-12 supplemental learning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3886200"/>
            <a:ext cx="4690872" cy="96012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3886200"/>
            <a:ext cx="109728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₹14,500 Cr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50976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Grades 6–12  ·  digital-ready families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5029200"/>
            <a:ext cx="4690872" cy="96012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0" y="5029200"/>
            <a:ext cx="109728" cy="9601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5394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₹580 Cr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50976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capture by Year 5  ·  conservative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KPMG India K-12 EdTech 2024  ·  CBSE Statistics 2025  ·  Internal modelling.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Subscription-first. ₹ only. No paisa games.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88920"/>
            <a:ext cx="3657600" cy="41148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TOP-OF-FUNNEL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₹299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3108960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754880"/>
            <a:ext cx="100584" cy="100584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69087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Foxy AI tutor (limited)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5001768"/>
            <a:ext cx="100584" cy="100584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93776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quizzes / day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5248656"/>
            <a:ext cx="100584" cy="100584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846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subject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495544"/>
            <a:ext cx="100584" cy="100584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4315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weekly digest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52544" y="27889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52544" y="2788920"/>
            <a:ext cx="3657600" cy="4114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26864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26864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₹699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626864" y="4572000"/>
            <a:ext cx="3108960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29" name="Shape 27"/>
          <p:cNvSpPr/>
          <p:nvPr/>
        </p:nvSpPr>
        <p:spPr>
          <a:xfrm>
            <a:off x="4672584" y="4754880"/>
            <a:ext cx="100584" cy="10058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469087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Foxy sessions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72584" y="5001768"/>
            <a:ext cx="100584" cy="10058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55464" y="493776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 engine (full)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72584" y="5248656"/>
            <a:ext cx="100584" cy="10058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51846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CBSE subjects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72584" y="5495544"/>
            <a:ext cx="100584" cy="10058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54315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mastery tracking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72584" y="5742432"/>
            <a:ext cx="100584" cy="10058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38" name="Text 36"/>
          <p:cNvSpPr/>
          <p:nvPr/>
        </p:nvSpPr>
        <p:spPr>
          <a:xfrm>
            <a:off x="4855464" y="567842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+ teacher dashboard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56448" y="27889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56448" y="2788920"/>
            <a:ext cx="365760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8430768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LTV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30768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/ School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430768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₹1,099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8430768" y="4572000"/>
            <a:ext cx="3108960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45" name="Shape 43"/>
          <p:cNvSpPr/>
          <p:nvPr/>
        </p:nvSpPr>
        <p:spPr>
          <a:xfrm>
            <a:off x="8476488" y="4754880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6" name="Text 44"/>
          <p:cNvSpPr/>
          <p:nvPr/>
        </p:nvSpPr>
        <p:spPr>
          <a:xfrm>
            <a:off x="8659368" y="469087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76488" y="5001768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8" name="Text 46"/>
          <p:cNvSpPr/>
          <p:nvPr/>
        </p:nvSpPr>
        <p:spPr>
          <a:xfrm>
            <a:off x="8659368" y="493776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children / batch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76488" y="524865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0" name="Text 48"/>
          <p:cNvSpPr/>
          <p:nvPr/>
        </p:nvSpPr>
        <p:spPr>
          <a:xfrm>
            <a:off x="8659368" y="51846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Phygital workbook add-on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76488" y="5495544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2" name="Text 50"/>
          <p:cNvSpPr/>
          <p:nvPr/>
        </p:nvSpPr>
        <p:spPr>
          <a:xfrm>
            <a:off x="8659368" y="54315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human-in-loop support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target  ·  CAC ₹450  ·  Blended ARPU ₹6,200/yr  ·  Gross margin 78%  ·  Payback &lt; 2 months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months of build. P5 production launch in motion.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Launch sprint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743200"/>
            <a:ext cx="54864" cy="137160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880360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6118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NCERT-aligned RAG coverage (6–12)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743200"/>
            <a:ext cx="54864" cy="1371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880360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4652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in production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74320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2743200"/>
            <a:ext cx="54864" cy="13716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880360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28116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Sev-1 incidents in last 30 days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91672" cy="36576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80160" y="5093208"/>
            <a:ext cx="274320" cy="2743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Supabase, Auth, Razorpay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28772" y="5093208"/>
            <a:ext cx="274320" cy="2743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1" name="Text 29"/>
          <p:cNvSpPr/>
          <p:nvPr/>
        </p:nvSpPr>
        <p:spPr>
          <a:xfrm>
            <a:off x="2488692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88692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97252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Foxy v32 · CME · IRT theta · affective state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77384" y="5093208"/>
            <a:ext cx="274320" cy="2743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5" name="Text 33"/>
          <p:cNvSpPr/>
          <p:nvPr/>
        </p:nvSpPr>
        <p:spPr>
          <a:xfrm>
            <a:off x="4337304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37304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&amp; Phygital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45864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engine · XP · phygital workbook layer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25996" y="5093208"/>
            <a:ext cx="274320" cy="27432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9" name="Text 37"/>
          <p:cNvSpPr/>
          <p:nvPr/>
        </p:nvSpPr>
        <p:spPr>
          <a:xfrm>
            <a:off x="6185916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85916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94476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indexes · quota overload fix · observability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674608" y="5093208"/>
            <a:ext cx="274320" cy="27432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43" name="Text 41"/>
          <p:cNvSpPr/>
          <p:nvPr/>
        </p:nvSpPr>
        <p:spPr>
          <a:xfrm>
            <a:off x="8034528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34528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Scale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943088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Daily-cron · wave flags · SRE runbook · retrain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523220" y="5093208"/>
            <a:ext cx="274320" cy="274320"/>
          </a:xfrm>
          <a:prstGeom prst="ellipse">
            <a:avLst/>
          </a:prstGeom>
          <a:solidFill>
            <a:srgbClr val="9AA3B2"/>
          </a:solidFill>
          <a:ln/>
        </p:spPr>
      </p:sp>
      <p:sp>
        <p:nvSpPr>
          <p:cNvPr id="47" name="Text 45"/>
          <p:cNvSpPr/>
          <p:nvPr/>
        </p:nvSpPr>
        <p:spPr>
          <a:xfrm>
            <a:off x="98831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883140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791700" y="5760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· referrals · regional language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compounding advantages competitors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copy in a quarter.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98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RAG-grounded NCERT corpus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embeddings + permanent removal of legacy syllabus. Zero hallucination at curriculum scale.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52544" y="26974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2926080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81144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58384" y="2898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CME mastery algorithm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58384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theta + affective state model. Each interaction sharpens the per-student model.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269748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85048" y="2926080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1" name="Text 19"/>
          <p:cNvSpPr/>
          <p:nvPr/>
        </p:nvSpPr>
        <p:spPr>
          <a:xfrm>
            <a:off x="838504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62288" y="2898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62288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Supabase + Edge Functions. RBAC, observability, daily-cron, retrain pipeline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4681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Phygital learning loop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0749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QR-bridged workbook ↔ app. Reduces churn, blocks pure-software competition.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52544" y="448056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81144" y="4709160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58384" y="4681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 CBSE obsession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58384" y="50749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CBSE-native founder. Every flow tested with real students, parents, teachers.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56448" y="4480560"/>
            <a:ext cx="3657600" cy="1600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5" name="Shape 33"/>
          <p:cNvSpPr/>
          <p:nvPr/>
        </p:nvSpPr>
        <p:spPr>
          <a:xfrm>
            <a:off x="8156448" y="4480560"/>
            <a:ext cx="73152" cy="16002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6" name="Text 34"/>
          <p:cNvSpPr/>
          <p:nvPr/>
        </p:nvSpPr>
        <p:spPr>
          <a:xfrm>
            <a:off x="8430768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student's CME profile becomes the moat. The longer they stay, the harder we are to leave.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INFRASTRUCTURE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from Day 1. Not a prototype.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109728" cy="5486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 · responsive · mobile-first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1091672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401568"/>
            <a:ext cx="109728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3493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· idempotent · RBAC-enforced · audit logs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059936"/>
            <a:ext cx="109728" cy="548640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41513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Foxy AI v32 · Voyage RAG · CME (IRT θ) · affective state · retrain cron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18304"/>
            <a:ext cx="11091672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718304"/>
            <a:ext cx="109728" cy="5486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097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48097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curriculum_topics · question_bank · student_learning_profiles · feature_flags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376672"/>
            <a:ext cx="109728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68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5468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Daily-cron · wave flags · SRE runbook · monitoring · zero Sev-1 (30d)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 ·  CORRECTNESS  ·  CONTINUITY  ·  RBAC  ·  IDEMPOTENT PAYMENTS  ·  ZERO HALLUCINATION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three-engine GTM. Each one feeds the next.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43200"/>
            <a:ext cx="109728" cy="9601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Direct-to-Parent (D2P)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parent-trust content on YouTube, Instagram, WhatsApp. ₹199 entry tier.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30175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&lt; ₹450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86200"/>
            <a:ext cx="109728" cy="9601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95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Partnerships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389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Pilot-to-paid in 50+ schools. Phygital workbooks + dashboard for class teachers.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41605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₹3,999 / child / yr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29200"/>
            <a:ext cx="109728" cy="9601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138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 &amp; Coaching Network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5532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portal for individual tutors. Alfanumrik becomes their AI co-pilot.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9680" y="53035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rev share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  ·  10,000 paid students  ·  20 school pilots  ·  ₹6.0 Cr ARR exit run-rate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operator wearing CTO + product + GTM hats.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with this round.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029200" cy="3383280"/>
          </a:xfrm>
          <a:prstGeom prst="rect">
            <a:avLst/>
          </a:prstGeom>
          <a:solidFill>
            <a:srgbClr val="0A1F44"/>
          </a:solidFill>
          <a:ln/>
          <a:effectLst>
            <a:outerShdw sx="100000" sy="100000" kx="0" ky="0" algn="bl" rotWithShape="0" blurRad="228600" dist="508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926080"/>
            <a:ext cx="5029200" cy="13716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291840"/>
            <a:ext cx="1371600" cy="13716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60604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Pradeep Sharma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Alfanumrik end-to-end — architecture, RAG pipeline, Foxy AI, payments, RBAC, content QA, growth. CBSE-native. CTO + Senior Engineer + QA, combined.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WITH THIS ROUND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5605272" cy="658368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3291840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346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Content (NCERT)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60273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lead — owns RAG corpus, QA, and chapter-by-chapter alignment.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4041648"/>
            <a:ext cx="5605272" cy="658368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4041648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096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3525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Supabase + Edge Functions — owns velocity behind the founder.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4791456"/>
            <a:ext cx="5605272" cy="658368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0" y="4791456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Community Lead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510235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Parent-trust content, WhatsApp funnels, school-pilot ops.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5541264"/>
            <a:ext cx="5605272" cy="658368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5541264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5961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(Part-time)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58521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retention, support. The first human-in-loop.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OUTLOOK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model. Profitable on Pro tier alone.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743200"/>
          <a:ext cx="5943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858000" y="28346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834640"/>
            <a:ext cx="54864" cy="1005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2" name="Text 9"/>
          <p:cNvSpPr/>
          <p:nvPr/>
        </p:nvSpPr>
        <p:spPr>
          <a:xfrm>
            <a:off x="704088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04088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(Y1)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281160" y="28346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281160" y="2834640"/>
            <a:ext cx="54864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3"/>
          <p:cNvSpPr/>
          <p:nvPr/>
        </p:nvSpPr>
        <p:spPr>
          <a:xfrm>
            <a:off x="946404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₹28 Cr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46404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(Y2)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39776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0" y="3977640"/>
            <a:ext cx="54864" cy="1005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₹82 Cr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04088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(Y3)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281160" y="39776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81160" y="3977640"/>
            <a:ext cx="54864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1"/>
          <p:cNvSpPr/>
          <p:nvPr/>
        </p:nvSpPr>
        <p:spPr>
          <a:xfrm>
            <a:off x="946404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46404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58000" y="51206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0" y="5120640"/>
            <a:ext cx="54864" cy="1005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8" name="Text 25"/>
          <p:cNvSpPr/>
          <p:nvPr/>
        </p:nvSpPr>
        <p:spPr>
          <a:xfrm>
            <a:off x="7040880" y="5257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mo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04088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281160" y="51206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281160" y="5120640"/>
            <a:ext cx="54864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29"/>
          <p:cNvSpPr/>
          <p:nvPr/>
        </p:nvSpPr>
        <p:spPr>
          <a:xfrm>
            <a:off x="9464040" y="5257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46404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to break-even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blended ARPU ₹6,200 / yr (Starter ₹299 / Pro ₹699 / Family ₹1,099 per month) · 78% GM · 8% monthly churn (improving). Detailed model on request.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₹1,00,00,000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Crore Indian Rupees  ·  Pre-Seed  ·  SAFE / CCD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657600" cy="1920240"/>
          </a:xfrm>
          <a:prstGeom prst="rect">
            <a:avLst/>
          </a:prstGeom>
          <a:solidFill>
            <a:srgbClr val="152A5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students within 12 months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3657600"/>
            <a:ext cx="3657600" cy="1920240"/>
          </a:xfrm>
          <a:prstGeom prst="rect">
            <a:avLst/>
          </a:prstGeom>
          <a:solidFill>
            <a:srgbClr val="152A5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₹6.0 Cr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091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exit run-rate by month 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3657600"/>
            <a:ext cx="3657600" cy="1920240"/>
          </a:xfrm>
          <a:prstGeom prst="rect">
            <a:avLst/>
          </a:prstGeom>
          <a:solidFill>
            <a:srgbClr val="152A5C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pilots converted to paid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92708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8521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ON A POST-MONEY SAFE  ·  18-MONTH RUNWAY  ·  CLOSE TARGET: 60 DAYS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292608" cy="292608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76895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₹1 CR GOES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rupee allocated. Every milestone time-boxed.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26974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28016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 Cr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8016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743200"/>
            <a:ext cx="5879592" cy="621792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2743200"/>
            <a:ext cx="73152" cy="6217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28712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12280" y="2798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Content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12280" y="305409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senior engineers + Head of Content. RAG corpus expansion to all CBSE subjects.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3456432"/>
            <a:ext cx="5879592" cy="621792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60720" y="3456432"/>
            <a:ext cx="73152" cy="6217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5844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12280" y="35112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GTM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12280" y="3767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marketing, parent-trust content, school-pilot ops, referral engine.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60720" y="4169664"/>
            <a:ext cx="5879592" cy="621792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5760720" y="4169664"/>
            <a:ext cx="73152" cy="621792"/>
          </a:xfrm>
          <a:prstGeom prst="rect">
            <a:avLst/>
          </a:prstGeom>
          <a:solidFill>
            <a:srgbClr val="1FB6A8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4297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1228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AI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12280" y="44805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embeddings, model spend, Supabase scale, observability stack.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60720" y="4882896"/>
            <a:ext cx="5879592" cy="621792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28" name="Shape 25"/>
          <p:cNvSpPr/>
          <p:nvPr/>
        </p:nvSpPr>
        <p:spPr>
          <a:xfrm>
            <a:off x="5760720" y="4882896"/>
            <a:ext cx="73152" cy="62179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0" y="5010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812280" y="4937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Key Hires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12280" y="51937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runway + Growth Lead + Student Success.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760720" y="5596128"/>
            <a:ext cx="5879592" cy="621792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33" name="Shape 30"/>
          <p:cNvSpPr/>
          <p:nvPr/>
        </p:nvSpPr>
        <p:spPr>
          <a:xfrm>
            <a:off x="5760720" y="5596128"/>
            <a:ext cx="73152" cy="621792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0" y="57241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812280" y="5650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12280" y="590702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Unallocated buffer for opportunistic spend or downside protection.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5DFD3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  ·  Adaptive Learning OS for CBSE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267048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545775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1097280"/>
            <a:ext cx="2103120" cy="21031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097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4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</a:t>
            </a:r>
            <a:endParaRPr lang="en-US" sz="56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of CBSE.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Pradeep Sharma  ·  Founder &amp; CEO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566928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0A1F4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669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ceo@alfanumrik.com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566928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5669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alfanumrik.com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3276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Cusiosense Learning India Private Limited  ·  Startup India Recognised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565392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Pre-Seed 2026  ·  Investor Ask: ₹1 Crore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Alfanumrik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Alfanumrik — Pre-Seed Investor Deck</dc:title>
  <dc:subject>Adaptive Learning OS for CBSE</dc:subject>
  <dc:creator>Pradeep Sharma</dc:creator>
  <cp:lastModifiedBy>Pradeep Sharma</cp:lastModifiedBy>
  <cp:revision>1</cp:revision>
  <dcterms:created xsi:type="dcterms:W3CDTF">2026-04-29T01:53:38Z</dcterms:created>
  <dcterms:modified xsi:type="dcterms:W3CDTF">2026-04-29T01:53:38Z</dcterms:modified>
</cp:coreProperties>
</file>